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Tahoma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67">
          <p15:clr>
            <a:srgbClr val="747775"/>
          </p15:clr>
        </p15:guide>
        <p15:guide id="2" orient="horz" pos="432">
          <p15:clr>
            <a:srgbClr val="747775"/>
          </p15:clr>
        </p15:guide>
        <p15:guide id="3" orient="horz" pos="39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9C2FD3-3FC3-4617-8E70-C59E8C182076}">
  <a:tblStyle styleId="{499C2FD3-3FC3-4617-8E70-C59E8C1820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151178F-AC40-4895-9BFC-8B83EDCD6C4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7" orient="horz"/>
        <p:guide pos="432" orient="horz"/>
        <p:guide pos="39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PlayfairDisplay-regular.fntdata"/><Relationship Id="rId22" Type="http://schemas.openxmlformats.org/officeDocument/2006/relationships/font" Target="fonts/PlayfairDisplay-bold.fntdata"/><Relationship Id="rId23" Type="http://schemas.openxmlformats.org/officeDocument/2006/relationships/font" Target="fonts/PlayfairDisplay-italic.fntdata"/><Relationship Id="rId24" Type="http://schemas.openxmlformats.org/officeDocument/2006/relationships/font" Target="fonts/PlayfairDisplay-boldItalic.fntdata"/><Relationship Id="rId25" Type="http://schemas.openxmlformats.org/officeDocument/2006/relationships/font" Target="fonts/Lato-regular.fntdata"/><Relationship Id="rId26" Type="http://schemas.openxmlformats.org/officeDocument/2006/relationships/font" Target="fonts/Lato-bold.fntdata"/><Relationship Id="rId27" Type="http://schemas.openxmlformats.org/officeDocument/2006/relationships/font" Target="fonts/Lato-italic.fntdata"/><Relationship Id="rId28" Type="http://schemas.openxmlformats.org/officeDocument/2006/relationships/font" Target="fonts/Lato-boldItalic.fntdata"/><Relationship Id="rId29" Type="http://schemas.openxmlformats.org/officeDocument/2006/relationships/font" Target="fonts/Tahoma-regular.fntdata"/><Relationship Id="rId30" Type="http://schemas.openxmlformats.org/officeDocument/2006/relationships/font" Target="fonts/Tahoma-bold.fntdata"/><Relationship Id="rId31" Type="http://schemas.openxmlformats.org/officeDocument/2006/relationships/font" Target="fonts/RobotoMono-regular.fntdata"/><Relationship Id="rId32" Type="http://schemas.openxmlformats.org/officeDocument/2006/relationships/font" Target="fonts/RobotoMono-bold.fntdata"/><Relationship Id="rId33" Type="http://schemas.openxmlformats.org/officeDocument/2006/relationships/font" Target="fonts/RobotoMono-italic.fntdata"/><Relationship Id="rId34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b9dd50bf0_18_23:notes"/>
          <p:cNvSpPr/>
          <p:nvPr>
            <p:ph idx="2" type="sldImg"/>
          </p:nvPr>
        </p:nvSpPr>
        <p:spPr>
          <a:xfrm>
            <a:off x="-2286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b9dd50bf0_18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b9dd50bf0_18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0d660612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0d660612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0d660612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0d66061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0d66061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70d66061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70d660612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70d660612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0d660612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70d660612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0d660612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70d660612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70d660612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70d660612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da37b99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ada37b99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0d660612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70d660612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70d660612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70d660612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70d660612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70d660612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0d660612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70d660612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OneColumnBullets">
  <p:cSld name="Content Slide_OneColumnBulle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297611" y="424066"/>
            <a:ext cx="8531162" cy="39113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600"/>
              <a:buFont typeface="Calibri"/>
              <a:buNone/>
              <a:defRPr b="1" i="0" sz="2600" u="none" cap="none" strike="noStrik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97611" y="978763"/>
            <a:ext cx="8531162" cy="349834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857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Merriweather Sans"/>
              <a:buChar char="▶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Ref">
  <p:cSld name="Title and Content with Ref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695416" y="4505492"/>
            <a:ext cx="6162583" cy="2462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b="0" i="1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2"/>
          <p:cNvSpPr txBox="1"/>
          <p:nvPr/>
        </p:nvSpPr>
        <p:spPr>
          <a:xfrm>
            <a:off x="1371600" y="4800600"/>
            <a:ext cx="6400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type="title"/>
          </p:nvPr>
        </p:nvSpPr>
        <p:spPr>
          <a:xfrm>
            <a:off x="695417" y="137357"/>
            <a:ext cx="7961221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3008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95324" y="775331"/>
            <a:ext cx="7961313" cy="362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8" name="Google Shape;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5750" y="4395101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3" name="Google Shape;10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8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4" name="Google Shape;114;p28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7" name="Google Shape;117;p2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607019" y="4896612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 txBox="1"/>
          <p:nvPr>
            <p:ph type="title"/>
          </p:nvPr>
        </p:nvSpPr>
        <p:spPr>
          <a:xfrm>
            <a:off x="1147082" y="548640"/>
            <a:ext cx="7539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" type="body"/>
          </p:nvPr>
        </p:nvSpPr>
        <p:spPr>
          <a:xfrm>
            <a:off x="1142956" y="1303020"/>
            <a:ext cx="3634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1" name="Google Shape;131;p33"/>
          <p:cNvSpPr txBox="1"/>
          <p:nvPr>
            <p:ph idx="2" type="body"/>
          </p:nvPr>
        </p:nvSpPr>
        <p:spPr>
          <a:xfrm>
            <a:off x="5052060" y="1303020"/>
            <a:ext cx="3634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2" name="Google Shape;132;p33"/>
          <p:cNvSpPr txBox="1"/>
          <p:nvPr>
            <p:ph idx="3" type="body"/>
          </p:nvPr>
        </p:nvSpPr>
        <p:spPr>
          <a:xfrm>
            <a:off x="1143000" y="1790700"/>
            <a:ext cx="3634800" cy="28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4" type="body"/>
          </p:nvPr>
        </p:nvSpPr>
        <p:spPr>
          <a:xfrm>
            <a:off x="5052060" y="1790700"/>
            <a:ext cx="3634800" cy="28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cxnSp>
        <p:nvCxnSpPr>
          <p:cNvPr id="134" name="Google Shape;134;p33"/>
          <p:cNvCxnSpPr/>
          <p:nvPr/>
        </p:nvCxnSpPr>
        <p:spPr>
          <a:xfrm>
            <a:off x="630936" y="834390"/>
            <a:ext cx="0" cy="4309200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35" name="Google Shape;135;p33"/>
          <p:cNvSpPr txBox="1"/>
          <p:nvPr>
            <p:ph idx="11" type="ftr"/>
          </p:nvPr>
        </p:nvSpPr>
        <p:spPr>
          <a:xfrm>
            <a:off x="1143000" y="4757966"/>
            <a:ext cx="21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0" type="dt"/>
          </p:nvPr>
        </p:nvSpPr>
        <p:spPr>
          <a:xfrm>
            <a:off x="6321983" y="4757966"/>
            <a:ext cx="165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8229601" y="4757966"/>
            <a:ext cx="457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34"/>
          <p:cNvCxnSpPr/>
          <p:nvPr/>
        </p:nvCxnSpPr>
        <p:spPr>
          <a:xfrm>
            <a:off x="630936" y="834390"/>
            <a:ext cx="0" cy="4309200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40" name="Google Shape;140;p34"/>
          <p:cNvSpPr txBox="1"/>
          <p:nvPr>
            <p:ph type="title"/>
          </p:nvPr>
        </p:nvSpPr>
        <p:spPr>
          <a:xfrm>
            <a:off x="1143000" y="548640"/>
            <a:ext cx="75522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1" type="ftr"/>
          </p:nvPr>
        </p:nvSpPr>
        <p:spPr>
          <a:xfrm>
            <a:off x="1143000" y="4757966"/>
            <a:ext cx="21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10" type="dt"/>
          </p:nvPr>
        </p:nvSpPr>
        <p:spPr>
          <a:xfrm>
            <a:off x="7034817" y="4757966"/>
            <a:ext cx="165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1" type="body"/>
          </p:nvPr>
        </p:nvSpPr>
        <p:spPr>
          <a:xfrm>
            <a:off x="1142999" y="1399072"/>
            <a:ext cx="7542900" cy="3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6" name="Google Shape;14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image" Target="../media/image8.gif"/><Relationship Id="rId3" Type="http://schemas.openxmlformats.org/officeDocument/2006/relationships/image" Target="../media/image9.gif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3.xml"/><Relationship Id="rId2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284909" y="4628375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7.jpg"/><Relationship Id="rId6" Type="http://schemas.openxmlformats.org/officeDocument/2006/relationships/hyperlink" Target="https://drive.google.com/file/d/1JfOFYj1lsYQqmhWTVg9je3te7nSkuVEE/view?usp=drive_link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"/>
          <p:cNvSpPr/>
          <p:nvPr/>
        </p:nvSpPr>
        <p:spPr>
          <a:xfrm>
            <a:off x="457200" y="685800"/>
            <a:ext cx="822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/>
              <a:t>A56 </a:t>
            </a:r>
            <a:r>
              <a:rPr b="0" i="0" lang="en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FindingSRAM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6"/>
          <p:cNvSpPr/>
          <p:nvPr/>
        </p:nvSpPr>
        <p:spPr>
          <a:xfrm>
            <a:off x="457200" y="13716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GAN CHIP — Deep Learning Accelerator (DLA) Engine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6"/>
          <p:cNvSpPr/>
          <p:nvPr/>
        </p:nvSpPr>
        <p:spPr>
          <a:xfrm>
            <a:off x="457200" y="45948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Track A · Open-source ASIC · GF180MCU 180 nm · OpenLane / LibreLane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36"/>
          <p:cNvGraphicFramePr/>
          <p:nvPr/>
        </p:nvGraphicFramePr>
        <p:xfrm>
          <a:off x="1089025" y="24517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{499C2FD3-3FC3-4617-8E70-C59E8C182076}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0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Discord name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Affiliation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mpa216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Bandung Insittute of Technology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Undergraduate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lead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fairuz0722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Bandung Insittute of Technology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Undergraduate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Circuit Design and Layout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6" name="Google Shape;1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1" y="283626"/>
            <a:ext cx="458050" cy="4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3625"/>
            <a:ext cx="458050" cy="4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 title="my_digi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050" y="283625"/>
            <a:ext cx="458050" cy="4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6"/>
          <p:cNvSpPr txBox="1"/>
          <p:nvPr/>
        </p:nvSpPr>
        <p:spPr>
          <a:xfrm>
            <a:off x="916100" y="1817600"/>
            <a:ext cx="786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Review Video: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https://drive.google.com/file/d/1JfOFYj1lsYQqmhWTVg9je3te7nSkuVEE/view?usp=drive_link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/>
              <a:t>Results - Signoff Table</a:t>
            </a:r>
            <a:endParaRPr b="1" sz="2320"/>
          </a:p>
        </p:txBody>
      </p:sp>
      <p:graphicFrame>
        <p:nvGraphicFramePr>
          <p:cNvPr id="165" name="Google Shape;165;p37"/>
          <p:cNvGraphicFramePr/>
          <p:nvPr/>
        </p:nvGraphicFramePr>
        <p:xfrm>
          <a:off x="891075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1104900"/>
                <a:gridCol w="1619250"/>
                <a:gridCol w="49053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Check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Tool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DRC (full)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Magic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violations  COUNT: 0, illegal‑overlap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DRC (routing)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OpenROAD DRT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Antenna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OpenROAD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nets / 0 pins  closed via GRT diode margin 25→75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LVS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Netgen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Circuits match uniquely  25,342 devices / 14,058 nets, 0 errors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GDS XOR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Magic ⟷ KLayout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differences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Setup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OpenSTA · 9 corners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 - worst +14.98 ns @ max_ss_125C_3v00 · 0 vios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OpenSTA · 9 corners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 - worst +0.117 ns @ min_ff_n40C_3v60 · 0 vios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/>
              <a:t>Results - 9 Corner Timing</a:t>
            </a:r>
            <a:endParaRPr b="1" sz="2320"/>
          </a:p>
        </p:txBody>
      </p:sp>
      <p:graphicFrame>
        <p:nvGraphicFramePr>
          <p:cNvPr id="171" name="Google Shape;171;p38"/>
          <p:cNvGraphicFramePr/>
          <p:nvPr/>
        </p:nvGraphicFramePr>
        <p:xfrm>
          <a:off x="1722450" y="74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3038975"/>
                <a:gridCol w="854625"/>
                <a:gridCol w="848250"/>
                <a:gridCol w="647200"/>
                <a:gridCol w="6011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</a:t>
                      </a:r>
                      <a:r>
                        <a:rPr b="1" lang="en" sz="1100"/>
                        <a:t>orner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Setup WS (ns)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Hold WS (ns)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Setup vio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Hold vio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min_tt_025C_3v30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24.778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nom_tt_025C_3v30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24.501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max_tt_025C_3v30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24.178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min_ss_125C_3v00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15.693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nom_ss_125C_3v00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15.364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max_ss_125C_3v00 ◄ worst setup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14.980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0.3674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min_ff_n40C_3v60 ◄ worst hold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29.283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0.1167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nom_ff_n40C_3v60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29.055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max_ff_n40C_3v60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28.794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Layout Render - Klayout</a:t>
            </a:r>
            <a:endParaRPr b="1" sz="1020"/>
          </a:p>
        </p:txBody>
      </p:sp>
      <p:sp>
        <p:nvSpPr>
          <p:cNvPr id="177" name="Google Shape;177;p39"/>
          <p:cNvSpPr txBox="1"/>
          <p:nvPr/>
        </p:nvSpPr>
        <p:spPr>
          <a:xfrm>
            <a:off x="5737175" y="741663"/>
            <a:ext cx="31863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KLayout — GDS view.</a:t>
            </a:r>
            <a:r>
              <a:rPr lang="en" sz="1100">
                <a:solidFill>
                  <a:schemeClr val="dk1"/>
                </a:solidFill>
              </a:rPr>
              <a:t> The streamed‑out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dla_engine_chip.gds</a:t>
            </a:r>
            <a:r>
              <a:rPr lang="en" sz="1100">
                <a:solidFill>
                  <a:schemeClr val="dk1"/>
                </a:solidFill>
              </a:rPr>
              <a:t> (fill + every metal). Eight SRAM macros in a 4×2 cluster (shifted +130 µm east to open a west I/O channel); the yellow sea is std‑cell logic + fill. DRC‑clean, LVS‑verified, antenna 0.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" name="Google Shape;178;p39"/>
          <p:cNvSpPr txBox="1"/>
          <p:nvPr/>
        </p:nvSpPr>
        <p:spPr>
          <a:xfrm>
            <a:off x="5737175" y="2043288"/>
            <a:ext cx="3186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Floorplan at a glance.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 buffer</a:t>
            </a:r>
            <a:r>
              <a:rPr lang="en" sz="1100">
                <a:solidFill>
                  <a:schemeClr val="dk1"/>
                </a:solidFill>
              </a:rPr>
              <a:t> (weights, row broadcast) → bottom row, 4 macros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 buffer</a:t>
            </a:r>
            <a:r>
              <a:rPr lang="en" sz="1100">
                <a:solidFill>
                  <a:schemeClr val="dk1"/>
                </a:solidFill>
              </a:rPr>
              <a:t> (inputs, column broadcast) → top row, 4 macros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 buffer</a:t>
            </a:r>
            <a:r>
              <a:rPr lang="en" sz="1100">
                <a:solidFill>
                  <a:schemeClr val="dk1"/>
                </a:solidFill>
              </a:rPr>
              <a:t> (results) → flip‑flops in the fabric — </a:t>
            </a:r>
            <a:r>
              <a:rPr i="1" lang="en" sz="1100">
                <a:solidFill>
                  <a:schemeClr val="dk1"/>
                </a:solidFill>
              </a:rPr>
              <a:t>no macro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Clustered 4×2 block (55 µm channels), shifted +130 µm east + perimeter logic/fill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9" name="Google Shape;1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2800"/>
            <a:ext cx="5432375" cy="3596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0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Layout Render - Openroad</a:t>
            </a:r>
            <a:endParaRPr b="1" sz="1020"/>
          </a:p>
        </p:txBody>
      </p:sp>
      <p:sp>
        <p:nvSpPr>
          <p:cNvPr id="185" name="Google Shape;185;p40"/>
          <p:cNvSpPr txBox="1"/>
          <p:nvPr/>
        </p:nvSpPr>
        <p:spPr>
          <a:xfrm>
            <a:off x="5763650" y="685788"/>
            <a:ext cx="31863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OpenROAD — design view.</a:t>
            </a:r>
            <a:r>
              <a:rPr lang="en" sz="1100">
                <a:solidFill>
                  <a:schemeClr val="dk1"/>
                </a:solidFill>
              </a:rPr>
              <a:t> Same die from the P&amp;R database. Macros under u_dla.u_a_buffer / u_dla.u_b_buffer (top = B, bottom = A), pulled together so the SRAM→PE broadcast nets stay short; green diamonds are the boundary pins.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86" name="Google Shape;186;p40"/>
          <p:cNvGraphicFramePr/>
          <p:nvPr/>
        </p:nvGraphicFramePr>
        <p:xfrm>
          <a:off x="5763650" y="207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1771050"/>
                <a:gridCol w="1323500"/>
              </a:tblGrid>
              <a:tr h="20955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Signoff metrics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Clock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25 MHz / 40 ns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Antenna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 / 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DRC / LVS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 / match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Timing (9 corners)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Utilization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53.9 %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Total power (tt)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125 mW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Instances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83,862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40" title="chip_fu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5" y="888275"/>
            <a:ext cx="5458852" cy="3614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Layout Render - Openroad</a:t>
            </a:r>
            <a:endParaRPr b="1" sz="1020"/>
          </a:p>
        </p:txBody>
      </p:sp>
      <p:sp>
        <p:nvSpPr>
          <p:cNvPr id="193" name="Google Shape;193;p41"/>
          <p:cNvSpPr txBox="1"/>
          <p:nvPr/>
        </p:nvSpPr>
        <p:spPr>
          <a:xfrm>
            <a:off x="5763650" y="685788"/>
            <a:ext cx="31863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OpenROAD — signal nets only.</a:t>
            </a:r>
            <a:r>
              <a:rPr lang="en" sz="1100">
                <a:solidFill>
                  <a:schemeClr val="dk1"/>
                </a:solidFill>
              </a:rPr>
              <a:t> Datapath + control routing (green/red/pink by layer) concentrated over the clustered macros and the mid‑channel — the traffic that the clustering keeps short.</a:t>
            </a:r>
            <a:endParaRPr sz="1100">
              <a:solidFill>
                <a:schemeClr val="dk1"/>
              </a:solidFill>
            </a:endParaRPr>
          </a:p>
          <a:p>
            <a:r>
              <a:rPr sz="900"/>
              <a:t>† Block IR-drop computed by OpenROAD PSM on the power-connected design (RCX + SPEF, ~125 mW): worst rail sag DVDD 54.8 mV / DVSS bounce 70.6 mV ⇒ ≤ 3.8% of 3.3 V, inside a typical 5% budget — the connector's via columns + M4/M5 core ring carry the load with margin. Full chip IR (through the shared padring) is an integration-stage analysis.</a:t>
            </a:r>
          </a:p>
        </p:txBody>
      </p:sp>
      <p:graphicFrame>
        <p:nvGraphicFramePr>
          <p:cNvPr id="194" name="Google Shape;194;p41"/>
          <p:cNvGraphicFramePr/>
          <p:nvPr/>
        </p:nvGraphicFramePr>
        <p:xfrm>
          <a:off x="5910275" y="197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1655725"/>
                <a:gridCol w="1237325"/>
              </a:tblGrid>
              <a:tr h="549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Signoff metrics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</a:tr>
              <a:tr h="5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Worst DVDD drop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54.8 mV  (rail → 3.245 V)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Worst DVSS bounce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70.6 mV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Average drop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48.6 / 62.1 mV (DVDD/DVSS)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Power‑grid violations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 · connectivity verified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5" name="Google Shape;195;p41" title="Screenshot from 2026-08-25 18-26-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0" y="919300"/>
            <a:ext cx="5458849" cy="356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How the die is built</a:t>
            </a:r>
            <a:endParaRPr b="1" sz="1020"/>
          </a:p>
        </p:txBody>
      </p:sp>
      <p:graphicFrame>
        <p:nvGraphicFramePr>
          <p:cNvPr id="201" name="Google Shape;201;p42"/>
          <p:cNvGraphicFramePr/>
          <p:nvPr/>
        </p:nvGraphicFramePr>
        <p:xfrm>
          <a:off x="114300" y="53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1447800"/>
                <a:gridCol w="2209800"/>
                <a:gridCol w="5257800"/>
              </a:tblGrid>
              <a:tr h="35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</a:t>
                      </a:r>
                      <a:r>
                        <a:rPr b="1" lang="en" sz="1100"/>
                        <a:t>arameter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Value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Notes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Die / Core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1675 × 1110 µm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1,642,850 µm² core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ACV project block (1.859 mm²). ~40 µm die-to-core margin holds the PDN core ring.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Macros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 × sram256x8m8wm1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301.30 × 224.93 µm ea.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Clustered 4×2 grid. x = 244.9 / 601.2 / 957.5 / 1313.8; y = 297.57 (A row) / 577.5 (B row). 55 µm channels, N orientation. Shifted +130 µm east to open a ~245 µm west channel for the serial bridge + west-edge I/O.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 buffer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flip‑flops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 × 24‑bit registers + 1‑cycle registered read. Removes the 9th macro; the register bank places freely in the fabric.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Target density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50 % → 53.9 % achieved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Antenna closed by the GRT diode-margin sweep (slide 11). Clustering shortens the broadcast nets; density 50 is the placement that routes them all clean.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Instances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83,862 total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33,315 std cells · 11,344 antenna diodes · 8 macros · balance = fill/tap/decap/endcap.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PDN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Metal4 ∥ + Metal5 ⟂ straps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Single 3.3 V DVDD/DVSS grid, 5 µm straps @ 75 µm pitch. Macro pins connect on </a:t>
                      </a:r>
                      <a:r>
                        <a:rPr b="1" lang="en" sz="1100"/>
                        <a:t>Metal3</a:t>
                      </a:r>
                      <a:r>
                        <a:rPr lang="en" sz="1100"/>
                        <a:t> (OCD SRAM tops out at Metal3 — custom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pdn_cfg.tcl</a:t>
                      </a:r>
                      <a:r>
                        <a:rPr lang="en" sz="1100"/>
                        <a:t>). + a Metal4/Metal5 core ring in the 40 µm margin; the padframe's Metal2 DVDD/DVSS pins weld to it via connect_power_v4.py.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Ports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 ACV pad terminals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 signals (clk, rst_n, SCLK, MOSI, CS_N, MISO, busy, done, wb_done) + DVDD/DVSS on the WEST edge (W12–W22); the 53-bit DLA bus is wrapped behind a 4-wire serial bridge (62 pad-control ports).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Power delivery network</a:t>
            </a:r>
            <a:endParaRPr b="1" sz="1020"/>
          </a:p>
        </p:txBody>
      </p:sp>
      <p:sp>
        <p:nvSpPr>
          <p:cNvPr id="207" name="Google Shape;207;p43"/>
          <p:cNvSpPr txBox="1"/>
          <p:nvPr/>
        </p:nvSpPr>
        <p:spPr>
          <a:xfrm>
            <a:off x="5763650" y="685788"/>
            <a:ext cx="31863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OpenROAD — power nets only.</a:t>
            </a:r>
            <a:r>
              <a:rPr lang="en" sz="1100">
                <a:solidFill>
                  <a:schemeClr val="dk1"/>
                </a:solidFill>
              </a:rPr>
              <a:t> Vertical green = Metal4 DVDD/DVSS straps (5 µm @ 75 µm pitch); horizontal blue = per‑row Metal1 rails. The dark rectangles are the 8 macros (fed on Metal3); green diamonds are the power pins.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8" name="Google Shape;208;p43"/>
          <p:cNvSpPr txBox="1"/>
          <p:nvPr/>
        </p:nvSpPr>
        <p:spPr>
          <a:xfrm>
            <a:off x="5856800" y="1818600"/>
            <a:ext cx="30000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Single 3.3 V domain</a:t>
            </a:r>
            <a:r>
              <a:rPr lang="en" sz="1100">
                <a:solidFill>
                  <a:schemeClr val="dk1"/>
                </a:solidFill>
              </a:rPr>
              <a:t> (DVDD/DVSS) — no domain crossings, no level shifting. Running DVDD/DVSS as closely‑spaced interleaved straps is intentional: it lowers PDN loop inductance and adds decoupling capacitance.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Both SRAM banks</a:t>
            </a:r>
            <a:r>
              <a:rPr lang="en" sz="1100">
                <a:solidFill>
                  <a:schemeClr val="dk1"/>
                </a:solidFill>
              </a:rPr>
              <a:t> tied to the grid explicitly on Metal3 via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PDN_MACRO_CONNECTIONS</a:t>
            </a:r>
            <a:r>
              <a:rPr lang="en" sz="1100">
                <a:solidFill>
                  <a:schemeClr val="dk1"/>
                </a:solidFill>
              </a:rPr>
              <a:t>; well/substrate taps in every AS std cell + macro (DRC‑enforced spacing).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IR‑drop &amp; EM low: 125 mW at 25 MHz with min‑drive cells; straps sized far above demand. A Metal4/Metal5 core ring in the die-edge margin carries DVDD/DVSS; connect_power_v4.py welds the padframe's Metal2 template pins to it (DRC/LVS-clean).</a:t>
            </a:r>
            <a:r>
              <a:rPr lang="en" sz="1100">
                <a:solidFill>
                  <a:schemeClr val="dk1"/>
                </a:solidFill>
              </a:rP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9" name="Google Shape;209;p43" title="Screenshot from 2026-08-25 18-27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5" y="961575"/>
            <a:ext cx="5458849" cy="356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Power delivery network - DEF template connection </a:t>
            </a:r>
            <a:endParaRPr b="1" sz="1020"/>
          </a:p>
        </p:txBody>
      </p:sp>
      <p:sp>
        <p:nvSpPr>
          <p:cNvPr id="215" name="Google Shape;215;p44"/>
          <p:cNvSpPr txBox="1"/>
          <p:nvPr/>
        </p:nvSpPr>
        <p:spPr>
          <a:xfrm>
            <a:off x="2928512" y="608100"/>
            <a:ext cx="53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DVSS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6" name="Google Shape;216;p44" title="power_connectors_w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00" y="1242500"/>
            <a:ext cx="1095100" cy="377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8875" y="1039794"/>
            <a:ext cx="1095100" cy="199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4" title="dvdd_connector_zo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3025" y="1039875"/>
            <a:ext cx="1095001" cy="199159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4"/>
          <p:cNvSpPr txBox="1"/>
          <p:nvPr/>
        </p:nvSpPr>
        <p:spPr>
          <a:xfrm>
            <a:off x="4636825" y="685800"/>
            <a:ext cx="58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DVDD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20" name="Google Shape;220;p44" title="connector_detail_dv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2448" y="3430300"/>
            <a:ext cx="1587901" cy="158792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4"/>
          <p:cNvSpPr txBox="1"/>
          <p:nvPr/>
        </p:nvSpPr>
        <p:spPr>
          <a:xfrm>
            <a:off x="596250" y="612100"/>
            <a:ext cx="103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Power Pin Connection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2" name="Google Shape;222;p44"/>
          <p:cNvSpPr txBox="1"/>
          <p:nvPr/>
        </p:nvSpPr>
        <p:spPr>
          <a:xfrm>
            <a:off x="2648926" y="3053925"/>
            <a:ext cx="109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DVSS Zoomed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3" name="Google Shape;223;p44"/>
          <p:cNvSpPr txBox="1"/>
          <p:nvPr/>
        </p:nvSpPr>
        <p:spPr>
          <a:xfrm>
            <a:off x="4383026" y="3076300"/>
            <a:ext cx="109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DVDD Zoomed</a:t>
            </a:r>
            <a:r>
              <a:rPr b="1" lang="en" sz="1100">
                <a:solidFill>
                  <a:schemeClr val="dk1"/>
                </a:solidFill>
              </a:rP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24" name="Google Shape;224;p44" title="connector_detail_dvd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8725" y="3407925"/>
            <a:ext cx="1587901" cy="1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4"/>
          <p:cNvSpPr txBox="1"/>
          <p:nvPr/>
        </p:nvSpPr>
        <p:spPr>
          <a:xfrm>
            <a:off x="5878275" y="911425"/>
            <a:ext cx="300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connect_power_v4.py welds each padframe Metal2 DVDD/DVSS pin (west edge) to the core ring — a Metal2 reach + a via column per finger. DRC/LVS-clean, no connect-by-label.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Remaining Review Criteria</a:t>
            </a:r>
            <a:endParaRPr b="1" sz="1020"/>
          </a:p>
        </p:txBody>
      </p:sp>
      <p:sp>
        <p:nvSpPr>
          <p:cNvPr id="231" name="Google Shape;231;p45"/>
          <p:cNvSpPr txBox="1"/>
          <p:nvPr/>
        </p:nvSpPr>
        <p:spPr>
          <a:xfrm>
            <a:off x="220600" y="741675"/>
            <a:ext cx="40005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Analog / Matching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Fully digital — </a:t>
            </a:r>
            <a:r>
              <a:rPr b="1" lang="en" sz="1100">
                <a:solidFill>
                  <a:schemeClr val="dk1"/>
                </a:solidFill>
              </a:rPr>
              <a:t>no analog circuitry</a:t>
            </a:r>
            <a:r>
              <a:rPr lang="en" sz="1100">
                <a:solidFill>
                  <a:schemeClr val="dk1"/>
                </a:solidFill>
              </a:rPr>
              <a:t>. No PLL, no matched pairs, no sensitive nodes. The only analog‑adjacent structures are the SRAM sense amps, pre‑qualified foundry IP used as‑is.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2" name="Google Shape;232;p45"/>
          <p:cNvSpPr txBox="1"/>
          <p:nvPr/>
        </p:nvSpPr>
        <p:spPr>
          <a:xfrm>
            <a:off x="220600" y="2048400"/>
            <a:ext cx="38286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Reliability &amp; PD Risk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Antenna: 0 violations</a:t>
            </a:r>
            <a:r>
              <a:rPr lang="en" sz="1100">
                <a:solidFill>
                  <a:schemeClr val="dk1"/>
                </a:solidFill>
              </a:rPr>
              <a:t> — closed to literal zero (slide 11); no residual charge‑accumulation risk.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Latch‑up:</a:t>
            </a:r>
            <a:r>
              <a:rPr lang="en" sz="1100">
                <a:solidFill>
                  <a:schemeClr val="dk1"/>
                </a:solidFill>
              </a:rPr>
              <a:t> taps in every std cell + macro, DRC‑enforced spacing.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Voltage:</a:t>
            </a:r>
            <a:r>
              <a:rPr lang="en" sz="1100">
                <a:solidFill>
                  <a:schemeClr val="dk1"/>
                </a:solidFill>
              </a:rPr>
              <a:t> single 3.3 V, all AS cells + OCD SRAM 3.3 V‑rated.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EM / current density:</a:t>
            </a:r>
            <a:r>
              <a:rPr lang="en" sz="1100">
                <a:solidFill>
                  <a:schemeClr val="dk1"/>
                </a:solidFill>
              </a:rPr>
              <a:t> negligible at 25 MHz, min‑drive cells.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ESD:</a:t>
            </a:r>
            <a:r>
              <a:rPr lang="en" sz="1100">
                <a:solidFill>
                  <a:schemeClr val="dk1"/>
                </a:solidFill>
              </a:rPr>
              <a:t> pad-level clamps live in the auditor's padframe (pad cells are outside this project block).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3" name="Google Shape;233;p45"/>
          <p:cNvSpPr txBox="1"/>
          <p:nvPr/>
        </p:nvSpPr>
        <p:spPr>
          <a:xfrm>
            <a:off x="4299425" y="714388"/>
            <a:ext cx="45519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Top‑Level Integration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Top cell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dla_engine_chip</a:t>
            </a:r>
            <a:r>
              <a:rPr lang="en" sz="1100">
                <a:solidFill>
                  <a:schemeClr val="dk1"/>
                </a:solidFill>
              </a:rPr>
              <a:t> everywhere (RTL ⟷ netlist ⟷ layout).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Pin names match RTL 1:1 — proven end‑to‑end by LVS.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Ports = pad-control terminals at the template positions; DVDD/DVSS welded to the core ring by connect_power_v4.py.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Hardened against the auditor's A56_ACV.def padframe template; presents the 11 ACV pad terminals on the west edge.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4405175" y="2703875"/>
            <a:ext cx="43404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Rubric 1 recap (DRC/LVS):</a:t>
            </a:r>
            <a:r>
              <a:rPr lang="en" sz="1100">
                <a:solidFill>
                  <a:schemeClr val="dk1"/>
                </a:solidFill>
              </a:rPr>
              <a:t> Magic DRC 0, routing DRC 0, GDS XOR 0; Netgen LVS matches uniquely across 25,342 devices — layout corresponds to the RTL device‑for‑device. Full signoff on slide 2.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Antenna closure: 4 → 2 → 0</a:t>
            </a:r>
            <a:endParaRPr b="1" sz="1020"/>
          </a:p>
        </p:txBody>
      </p:sp>
      <p:graphicFrame>
        <p:nvGraphicFramePr>
          <p:cNvPr id="240" name="Google Shape;240;p46"/>
          <p:cNvGraphicFramePr/>
          <p:nvPr/>
        </p:nvGraphicFramePr>
        <p:xfrm>
          <a:off x="0" y="74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{D151178F-AC40-4895-9BFC-8B83EDCD6C4A}</a:tableStyleId>
              </a:tblPr>
              <a:tblGrid>
                <a:gridCol w="1472950"/>
                <a:gridCol w="878900"/>
                <a:gridCol w="19169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Experiment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Antenna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Note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clustered 4×2 baseline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low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clustering keeps the SRAM broadcast nets short (from longtin)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new west-edge template · margin 25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auditor moved every pin 100 µm → routing re-rolled (was 1)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GRT diode margin 50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cleared 2 of the 3 marginals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GRT diode margin 75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 ✅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winner — cleared net5, the structural buffer→output net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46"/>
          <p:cNvSpPr txBox="1"/>
          <p:nvPr/>
        </p:nvSpPr>
        <p:spPr>
          <a:xfrm>
            <a:off x="52925" y="3886925"/>
            <a:ext cx="4009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Lesson: the clustered macros keep the base count low, but the auditor's new pin template re-rolled routing to 5 nets. Because the pin positions are auditor-fixed and can't be moved, a more aggressive global-route diode margin (25→75) is more targeted than a density re-roll — it cleared even net5, the one structurally-long net that recurs every harden. DRC/LVS stayed clean.</a:t>
            </a:r>
            <a:r>
              <a:rPr lang="en" sz="1100">
                <a:solidFill>
                  <a:schemeClr val="dk1"/>
                </a:solidFill>
              </a:rPr>
              <a:t/>
            </a:r>
            <a:endParaRPr/>
          </a:p>
        </p:txBody>
      </p:sp>
      <p:sp>
        <p:nvSpPr>
          <p:cNvPr id="242" name="Google Shape;242;p46"/>
          <p:cNvSpPr txBox="1"/>
          <p:nvPr/>
        </p:nvSpPr>
        <p:spPr>
          <a:xfrm>
            <a:off x="4414800" y="3961475"/>
            <a:ext cx="4570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OpenROAD — placement‑density heatmap.</a:t>
            </a:r>
            <a:r>
              <a:rPr lang="en" sz="1100">
                <a:solidFill>
                  <a:schemeClr val="dk1"/>
                </a:solidFill>
              </a:rPr>
              <a:t> Red = packed, teal = sparse. The datapath logic packs tightly </a:t>
            </a:r>
            <a:r>
              <a:rPr i="1" lang="en" sz="1100">
                <a:solidFill>
                  <a:schemeClr val="dk1"/>
                </a:solidFill>
              </a:rPr>
              <a:t>around the clustered macros</a:t>
            </a:r>
            <a:r>
              <a:rPr lang="en" sz="1100">
                <a:solidFill>
                  <a:schemeClr val="dk1"/>
                </a:solidFill>
              </a:rPr>
              <a:t> (the placer pulls connected cells to the memories), with routable breathing room at the perimeter — exactly the compact arrangement that keeps the broadcast nets short.</a:t>
            </a:r>
            <a:endParaRPr/>
          </a:p>
        </p:txBody>
      </p:sp>
      <p:pic>
        <p:nvPicPr>
          <p:cNvPr id="243" name="Google Shape;2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200" y="682800"/>
            <a:ext cx="4570400" cy="2982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UVM environment (pyuvm on cocotb)</a:t>
            </a:r>
            <a:endParaRPr b="1" sz="1020"/>
          </a:p>
        </p:txBody>
      </p:sp>
      <p:sp>
        <p:nvSpPr>
          <p:cNvPr id="249" name="Google Shape;249;p47"/>
          <p:cNvSpPr txBox="1"/>
          <p:nvPr/>
        </p:nvSpPr>
        <p:spPr>
          <a:xfrm>
            <a:off x="171975" y="741675"/>
            <a:ext cx="4366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UVM (IEEE 1800.2) builds a testbench from cooperating components that speak in </a:t>
            </a:r>
            <a:r>
              <a:rPr b="1" lang="en" sz="1100">
                <a:solidFill>
                  <a:schemeClr val="dk1"/>
                </a:solidFill>
              </a:rPr>
              <a:t>transactions</a:t>
            </a:r>
            <a:r>
              <a:rPr lang="en" sz="1100">
                <a:solidFill>
                  <a:schemeClr val="dk1"/>
                </a:solidFill>
              </a:rPr>
              <a:t>, not wires. Here it runs in Python via </a:t>
            </a:r>
            <a:r>
              <a:rPr b="1" lang="en" sz="1100">
                <a:solidFill>
                  <a:schemeClr val="dk1"/>
                </a:solidFill>
              </a:rPr>
              <a:t>pyuvm</a:t>
            </a:r>
            <a:r>
              <a:rPr lang="en" sz="1100">
                <a:solidFill>
                  <a:schemeClr val="dk1"/>
                </a:solidFill>
              </a:rPr>
              <a:t> (a faithful port of the standard classes) driving the DUT through Icarus — every class name is identical to SystemVerilog UVM.</a:t>
            </a:r>
            <a:endParaRPr/>
          </a:p>
        </p:txBody>
      </p:sp>
      <p:sp>
        <p:nvSpPr>
          <p:cNvPr id="250" name="Google Shape;250;p47"/>
          <p:cNvSpPr txBox="1"/>
          <p:nvPr/>
        </p:nvSpPr>
        <p:spPr>
          <a:xfrm>
            <a:off x="171975" y="1802100"/>
            <a:ext cx="4565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DlaTest</a:t>
            </a:r>
            <a:r>
              <a:rPr lang="en" sz="1100">
                <a:solidFill>
                  <a:schemeClr val="dk1"/>
                </a:solidFill>
              </a:rPr>
              <a:t> (uvm_test) — builds env, starts sequence, checks tally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DlaEnv</a:t>
            </a:r>
            <a:r>
              <a:rPr lang="en" sz="1100">
                <a:solidFill>
                  <a:schemeClr val="dk1"/>
                </a:solidFill>
              </a:rPr>
              <a:t> (uvm_env) — wires analysis ports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DlaAgent</a:t>
            </a:r>
            <a:r>
              <a:rPr lang="en" sz="1100">
                <a:solidFill>
                  <a:schemeClr val="dk1"/>
                </a:solidFill>
              </a:rPr>
              <a:t> (uvm_agent)</a:t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├ Sequencer — routes DlaOp items</a:t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├ </a:t>
            </a:r>
            <a:r>
              <a:rPr b="1" lang="en" sz="1100">
                <a:solidFill>
                  <a:schemeClr val="dk1"/>
                </a:solidFill>
              </a:rPr>
              <a:t>Driver</a:t>
            </a:r>
            <a:r>
              <a:rPr lang="en" sz="1100">
                <a:solidFill>
                  <a:schemeClr val="dk1"/>
                </a:solidFill>
              </a:rPr>
              <a:t> — the only pin‑wiggler</a:t>
            </a:r>
            <a:endParaRPr sz="11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└ </a:t>
            </a:r>
            <a:r>
              <a:rPr b="1" lang="en" sz="1100">
                <a:solidFill>
                  <a:schemeClr val="dk1"/>
                </a:solidFill>
              </a:rPr>
              <a:t>Monitor</a:t>
            </a:r>
            <a:r>
              <a:rPr lang="en" sz="1100">
                <a:solidFill>
                  <a:schemeClr val="dk1"/>
                </a:solidFill>
              </a:rPr>
              <a:t> — passive; rebuilds C from pins</a:t>
            </a:r>
            <a:endParaRPr sz="11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DlaScoreboard</a:t>
            </a:r>
            <a:endParaRPr b="1" sz="11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golden matmul + checker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1" name="Google Shape;251;p47"/>
          <p:cNvSpPr txBox="1"/>
          <p:nvPr/>
        </p:nvSpPr>
        <p:spPr>
          <a:xfrm>
            <a:off x="171975" y="3690750"/>
            <a:ext cx="3843600" cy="692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Sequence → Sequencer → Driver →(pins)→ </a:t>
            </a:r>
            <a:r>
              <a:rPr b="1" lang="en" sz="1100">
                <a:solidFill>
                  <a:schemeClr val="dk1"/>
                </a:solidFill>
              </a:rPr>
              <a:t>DUT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DUT →(pins)→ Monitor →(observed C)→ Scoreboard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Driver →(applied A,B)──────────────→ Scoreboard</a:t>
            </a:r>
            <a:endParaRPr/>
          </a:p>
        </p:txBody>
      </p:sp>
      <p:sp>
        <p:nvSpPr>
          <p:cNvPr id="252" name="Google Shape;252;p47"/>
          <p:cNvSpPr txBox="1"/>
          <p:nvPr/>
        </p:nvSpPr>
        <p:spPr>
          <a:xfrm>
            <a:off x="4737075" y="741675"/>
            <a:ext cx="3995400" cy="22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Mapped to the accelerator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DlaOp</a:t>
            </a:r>
            <a:r>
              <a:rPr lang="en" sz="1000">
                <a:solidFill>
                  <a:schemeClr val="dk1"/>
                </a:solidFill>
              </a:rPr>
              <a:t> = one matmul job (A 4×256 weights, B 256×4 inputs).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Sequence</a:t>
            </a:r>
            <a:r>
              <a:rPr lang="en" sz="1000">
                <a:solidFill>
                  <a:schemeClr val="dk1"/>
                </a:solidFill>
              </a:rPr>
              <a:t> = 1 directed (A=B=1 ⇒ every C=256) + 3 constrained‑random ops.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Driver</a:t>
            </a:r>
            <a:r>
              <a:rPr lang="en" sz="1000">
                <a:solidFill>
                  <a:schemeClr val="dk1"/>
                </a:solidFill>
              </a:rPr>
              <a:t> = real protocol: stream A/B, pulse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" sz="1000">
                <a:solidFill>
                  <a:schemeClr val="dk1"/>
                </a:solidFill>
              </a:rPr>
              <a:t>, wait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wb_done</a:t>
            </a:r>
            <a:r>
              <a:rPr lang="en" sz="1000">
                <a:solidFill>
                  <a:schemeClr val="dk1"/>
                </a:solidFill>
              </a:rPr>
              <a:t>, read 16 C.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Monitor</a:t>
            </a:r>
            <a:r>
              <a:rPr lang="en" sz="1000">
                <a:solidFill>
                  <a:schemeClr val="dk1"/>
                </a:solidFill>
              </a:rPr>
              <a:t> = reconstructs the 16 C outputs from the read‑back bus.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Scoreboard</a:t>
            </a:r>
            <a:r>
              <a:rPr lang="en" sz="1000">
                <a:solidFill>
                  <a:schemeClr val="dk1"/>
                </a:solidFill>
              </a:rPr>
              <a:t> = predicts C=A·B (INT8, 24‑bit wrap) and compares.</a:t>
            </a:r>
            <a:endParaRPr sz="1000">
              <a:solidFill>
                <a:schemeClr val="dk1"/>
              </a:solidFill>
            </a:endParaRPr>
          </a:p>
          <a:p>
            <a:r>
              <a:rPr sz="1000"/>
              <a:t>Scope: this env black-box-verifies the DLA core (dla_engine_top), instantiated unchanged inside the submitted dla_engine_chip. The bridge-wrapped chip is additionally directed-tested at the ACV pads (tb/dla_engine_chip_tb.sv), bit-exact against the same goldens.</a:t>
            </a:r>
          </a:p>
        </p:txBody>
      </p:sp>
      <p:sp>
        <p:nvSpPr>
          <p:cNvPr id="253" name="Google Shape;253;p47"/>
          <p:cNvSpPr txBox="1"/>
          <p:nvPr/>
        </p:nvSpPr>
        <p:spPr>
          <a:xfrm>
            <a:off x="4315275" y="3575400"/>
            <a:ext cx="4681800" cy="923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"/>
                <a:ea typeface="Courier"/>
                <a:cs typeface="Courier"/>
                <a:sym typeface="Courier"/>
              </a:rPr>
              <a:t># cd /foss/designs/tb/uvm &amp;&amp; make</a:t>
            </a:r>
            <a:endParaRPr sz="1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"/>
                <a:ea typeface="Courier"/>
                <a:cs typeface="Courier"/>
                <a:sym typeface="Courier"/>
              </a:rPr>
              <a:t>[directed_ones] PASS: 16/16 match (C[0][0]=256)</a:t>
            </a:r>
            <a:endParaRPr sz="1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"/>
                <a:ea typeface="Courier"/>
                <a:cs typeface="Courier"/>
                <a:sym typeface="Courier"/>
              </a:rPr>
              <a:t>[rand_0] PASS  [rand_1] PASS  [rand_2] PASS</a:t>
            </a:r>
            <a:endParaRPr sz="1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"/>
                <a:ea typeface="Courier"/>
                <a:cs typeface="Courier"/>
                <a:sym typeface="Courier"/>
              </a:rPr>
              <a:t>ALL 4 TRANSACTIONS PASSED — 4 passed, 0 failed</a:t>
            </a:r>
            <a:endParaRPr sz="12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4" name="Google Shape;254;p47"/>
          <p:cNvSpPr/>
          <p:nvPr/>
        </p:nvSpPr>
        <p:spPr>
          <a:xfrm flipH="1" rot="-5400000">
            <a:off x="675800" y="2799600"/>
            <a:ext cx="978900" cy="57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 txBox="1"/>
          <p:nvPr>
            <p:ph type="title"/>
          </p:nvPr>
        </p:nvSpPr>
        <p:spPr>
          <a:xfrm>
            <a:off x="0" y="-42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Notes for the reviewer</a:t>
            </a:r>
            <a:endParaRPr b="1" sz="1020"/>
          </a:p>
        </p:txBody>
      </p:sp>
      <p:sp>
        <p:nvSpPr>
          <p:cNvPr id="260" name="Google Shape;260;p48"/>
          <p:cNvSpPr txBox="1"/>
          <p:nvPr/>
        </p:nvSpPr>
        <p:spPr>
          <a:xfrm>
            <a:off x="211650" y="741675"/>
            <a:ext cx="41022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Why C moved to flip‑flops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 holds only 16 accumulators (48 bytes) — a wasteful 64×8 macro. As flip‑flops it costs ~408 registers (tiny in an 85k‑instance die), </a:t>
            </a:r>
            <a:r>
              <a:rPr b="1" lang="en" sz="1100">
                <a:solidFill>
                  <a:schemeClr val="dk1"/>
                </a:solidFill>
              </a:rPr>
              <a:t>removes a macro</a:t>
            </a:r>
            <a:r>
              <a:rPr lang="en" sz="1100">
                <a:solidFill>
                  <a:schemeClr val="dk1"/>
                </a:solidFill>
              </a:rPr>
              <a:t>, cuts writeback 48→16 cycles, and drops the C read latency 4–5→1 cycle. A/B stay SRAM because they need four parallel 8‑bit lanes each.</a:t>
            </a:r>
            <a:endParaRPr sz="1100">
              <a:solidFill>
                <a:schemeClr val="dk1"/>
              </a:solidFill>
            </a:endParaRPr>
          </a:p>
          <a:p>
            <a:r>
              <a:rPr sz="1100"/>
              <a:t>Post-layout timing — no SDF simulation: the 3.3 V AS standard-cell library ships with no `specify` timing blocks (0 across 78 cell models), so SDF-annotated dynamic gate-level sim isn't possible in this open toolset. Post-layout timing is signed off by SPEF-backed 9-corner STA (the standard method) and functional equivalence by zero-delay GLS. The open PDK's 5 V library does carry specify (916 blocks) — so it's a library, not a toolset, limitation.</a:t>
            </a:r>
          </a:p>
        </p:txBody>
      </p:sp>
      <p:sp>
        <p:nvSpPr>
          <p:cNvPr id="261" name="Google Shape;261;p48"/>
          <p:cNvSpPr txBox="1"/>
          <p:nvPr/>
        </p:nvSpPr>
        <p:spPr>
          <a:xfrm>
            <a:off x="4459350" y="741675"/>
            <a:ext cx="4524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Why cluster the macros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roomy die spreads the memories apart, so the SRAM→PE broadcast nets route long and trip antennas. Pulling the 8 macros into a compact central block (55 µm channels) shortens those nets at the source; a density sweep then finds the placement (d50) that routes the residue clean. Result: antenna 0, timing/DRC/LVS unchanged.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2" name="Google Shape;262;p48"/>
          <p:cNvSpPr txBox="1"/>
          <p:nvPr/>
        </p:nvSpPr>
        <p:spPr>
          <a:xfrm>
            <a:off x="291025" y="22509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Opening this design in OpenROAD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63" name="Google Shape;263;p48"/>
          <p:cNvSpPr txBox="1"/>
          <p:nvPr/>
        </p:nvSpPr>
        <p:spPr>
          <a:xfrm>
            <a:off x="291025" y="2635800"/>
            <a:ext cx="70656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# interactive GUI (needs a display) — pan/zoom, toggle layers &amp; the PDN, inspect timing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openroad -gui runs/acv_ring4/final/odb/dla_engine_chip.odb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#   in the GUI: Nets ▸ turn off Signal to get the Power/Ground view (slide 5)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# headless screenshot (full die), for the design views: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QT_QPA_PLATFORM=offscreen openroad -exit _or_render.tcl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#   read_db .../final/odb/dla_engine_chip.odb ; save_image -area {0 0 1675 1110} out.png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# the raw GDS stream is a KLayout job (OpenROAD has no GDS reader):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latin typeface="Courier"/>
                <a:ea typeface="Courier"/>
                <a:cs typeface="Courier"/>
                <a:sym typeface="Courier"/>
              </a:rPr>
              <a:t>klayout runs/acv_ring4/final/gds/dla_engine_chip.gds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